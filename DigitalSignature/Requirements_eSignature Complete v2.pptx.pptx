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92" r:id="rId2"/>
    <p:sldId id="620" r:id="rId3"/>
    <p:sldId id="621" r:id="rId4"/>
    <p:sldId id="613" r:id="rId5"/>
    <p:sldId id="626" r:id="rId6"/>
    <p:sldId id="624" r:id="rId7"/>
    <p:sldId id="614" r:id="rId8"/>
    <p:sldId id="615" r:id="rId9"/>
    <p:sldId id="622" r:id="rId10"/>
    <p:sldId id="616" r:id="rId11"/>
    <p:sldId id="625" r:id="rId12"/>
    <p:sldId id="623" r:id="rId13"/>
    <p:sldId id="627" r:id="rId14"/>
    <p:sldId id="628" r:id="rId15"/>
    <p:sldId id="629" r:id="rId16"/>
    <p:sldId id="630" r:id="rId17"/>
    <p:sldId id="631" r:id="rId18"/>
    <p:sldId id="632" r:id="rId19"/>
    <p:sldId id="633" r:id="rId20"/>
    <p:sldId id="634" r:id="rId21"/>
    <p:sldId id="635" r:id="rId22"/>
    <p:sldId id="636" r:id="rId23"/>
    <p:sldId id="637" r:id="rId24"/>
    <p:sldId id="638" r:id="rId25"/>
    <p:sldId id="639" r:id="rId26"/>
  </p:sldIdLst>
  <p:sldSz cx="9144000" cy="6858000" type="screen4x3"/>
  <p:notesSz cx="6797675" cy="9926638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9">
          <p15:clr>
            <a:srgbClr val="A4A3A4"/>
          </p15:clr>
        </p15:guide>
        <p15:guide id="2" orient="horz" pos="3859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1083">
          <p15:clr>
            <a:srgbClr val="A4A3A4"/>
          </p15:clr>
        </p15:guide>
        <p15:guide id="5" orient="horz" pos="665">
          <p15:clr>
            <a:srgbClr val="A4A3A4"/>
          </p15:clr>
        </p15:guide>
        <p15:guide id="6" orient="horz" pos="1291">
          <p15:clr>
            <a:srgbClr val="A4A3A4"/>
          </p15:clr>
        </p15:guide>
        <p15:guide id="7" pos="5631">
          <p15:clr>
            <a:srgbClr val="A4A3A4"/>
          </p15:clr>
        </p15:guide>
        <p15:guide id="8" pos="2880">
          <p15:clr>
            <a:srgbClr val="A4A3A4"/>
          </p15:clr>
        </p15:guide>
        <p15:guide id="9" pos="3008">
          <p15:clr>
            <a:srgbClr val="A4A3A4"/>
          </p15:clr>
        </p15:guide>
        <p15:guide id="10" pos="629">
          <p15:clr>
            <a:srgbClr val="A4A3A4"/>
          </p15:clr>
        </p15:guide>
        <p15:guide id="11" pos="5554">
          <p15:clr>
            <a:srgbClr val="A4A3A4"/>
          </p15:clr>
        </p15:guide>
        <p15:guide id="12" pos="142">
          <p15:clr>
            <a:srgbClr val="A4A3A4"/>
          </p15:clr>
        </p15:guide>
        <p15:guide id="13" pos="2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6C0A"/>
    <a:srgbClr val="FF7174"/>
    <a:srgbClr val="FF7C80"/>
    <a:srgbClr val="FFCC00"/>
    <a:srgbClr val="FF6600"/>
    <a:srgbClr val="FF3399"/>
    <a:srgbClr val="3399FF"/>
    <a:srgbClr val="E85695"/>
    <a:srgbClr val="FFF7F7"/>
    <a:srgbClr val="FF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0502" autoAdjust="0"/>
  </p:normalViewPr>
  <p:slideViewPr>
    <p:cSldViewPr snapToGrid="0" snapToObjects="1">
      <p:cViewPr varScale="1">
        <p:scale>
          <a:sx n="111" d="100"/>
          <a:sy n="111" d="100"/>
        </p:scale>
        <p:origin x="1600" y="200"/>
      </p:cViewPr>
      <p:guideLst>
        <p:guide orient="horz" pos="499"/>
        <p:guide orient="horz" pos="3859"/>
        <p:guide orient="horz" pos="2160"/>
        <p:guide orient="horz" pos="1083"/>
        <p:guide orient="horz" pos="665"/>
        <p:guide orient="horz" pos="1291"/>
        <p:guide pos="5631"/>
        <p:guide pos="2880"/>
        <p:guide pos="3008"/>
        <p:guide pos="629"/>
        <p:guide pos="5554"/>
        <p:guide pos="142"/>
        <p:guide pos="27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14FE1ACB-08E7-4B9F-94F4-A944F4151E0D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B891B174-878A-4D5F-83FA-033D643754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396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DD8C8702-215A-4035-A6A6-D96054155B03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F3D6C0CE-F288-47BD-8FE2-6ABCC42E2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149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250259"/>
            <a:ext cx="7239000" cy="73523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0099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B01DE-F2CF-44EA-87C9-1B8A6DD1BF20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7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3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478" y="2250259"/>
            <a:ext cx="8082722" cy="735235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24402-2776-47E6-AB71-310CE020EE30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8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D60A5-9FF3-4E5E-954A-C349833C407C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FB40D-69FB-4A16-B0A8-50E694A82C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1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4572000" y="1077913"/>
            <a:ext cx="0" cy="5048251"/>
          </a:xfrm>
          <a:prstGeom prst="line">
            <a:avLst/>
          </a:prstGeom>
          <a:ln w="19050" cmpd="sng">
            <a:solidFill>
              <a:srgbClr val="FFBC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5426" y="1077913"/>
            <a:ext cx="4130674" cy="50482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4" y="1077913"/>
            <a:ext cx="4123306" cy="50482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B7A5-AB40-4823-8C28-45019962A460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AA210-EF2B-4A8B-BFEA-FFC70E5F9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32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 noChangeAspect="1"/>
          </p:cNvCxnSpPr>
          <p:nvPr userDrawn="1"/>
        </p:nvCxnSpPr>
        <p:spPr>
          <a:xfrm>
            <a:off x="250825" y="1901825"/>
            <a:ext cx="4095750" cy="0"/>
          </a:xfrm>
          <a:prstGeom prst="line">
            <a:avLst/>
          </a:prstGeom>
          <a:ln w="19050" cmpd="sng">
            <a:solidFill>
              <a:srgbClr val="FFBC00"/>
            </a:solidFill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cxnSpLocks noChangeAspect="1"/>
          </p:cNvCxnSpPr>
          <p:nvPr userDrawn="1"/>
        </p:nvCxnSpPr>
        <p:spPr>
          <a:xfrm>
            <a:off x="4787902" y="1901825"/>
            <a:ext cx="4162425" cy="0"/>
          </a:xfrm>
          <a:prstGeom prst="line">
            <a:avLst/>
          </a:prstGeom>
          <a:ln w="19050" cmpd="sng">
            <a:solidFill>
              <a:srgbClr val="FFBC00"/>
            </a:solidFill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4952" y="1077913"/>
            <a:ext cx="4121149" cy="639763"/>
          </a:xfr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4952" y="2060725"/>
            <a:ext cx="4121149" cy="40638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6313" y="1077913"/>
            <a:ext cx="4152900" cy="639763"/>
          </a:xfr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6315" y="2060849"/>
            <a:ext cx="4152899" cy="406531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C4A16-189C-433A-9F1D-9FBBE11FA6CD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3D0D-DE6D-42D9-A234-568DEB367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4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>
            <a:cxnSpLocks noChangeAspect="1"/>
          </p:cNvCxnSpPr>
          <p:nvPr userDrawn="1"/>
        </p:nvCxnSpPr>
        <p:spPr>
          <a:xfrm>
            <a:off x="250827" y="1901825"/>
            <a:ext cx="3241675" cy="0"/>
          </a:xfrm>
          <a:prstGeom prst="line">
            <a:avLst/>
          </a:prstGeom>
          <a:ln w="19050" cmpd="sng">
            <a:solidFill>
              <a:srgbClr val="FFBC00"/>
            </a:solidFill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6262" y="1077913"/>
            <a:ext cx="5062953" cy="5048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4952" y="2049463"/>
            <a:ext cx="3230563" cy="40767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225425" y="1055689"/>
            <a:ext cx="3240088" cy="661987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3EFFB-2B51-4771-BAD2-C37A58160240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0A560-D326-4D0E-9D47-BB639FBB67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9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234952" y="1066802"/>
            <a:ext cx="8704263" cy="5057775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262BE-9F13-4491-B47D-F2DF1EF62BF5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43C67-677D-4CF2-A588-9F53E7FBB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83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BB07-CBEB-4EE2-92CE-4BB3E86FFFB2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filename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19246-CA6E-40D5-BCD7-892AF71A6E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5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40" y="1"/>
            <a:ext cx="8734425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34952" y="1077913"/>
            <a:ext cx="8704263" cy="5048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950" y="6411914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000000"/>
                </a:solidFill>
                <a:latin typeface="Trebuchet MS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81542519-185B-4896-B628-6CBECA9ACA60}" type="datetime1">
              <a:rPr lang="en-AU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191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filename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5450" y="6411914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 b="1">
                <a:solidFill>
                  <a:srgbClr val="000000"/>
                </a:solidFill>
                <a:latin typeface="Trebuchet MS" pitchFamily="-1" charset="0"/>
                <a:ea typeface="ＭＳ Ｐゴシック" pitchFamily="-1" charset="-128"/>
                <a:cs typeface="+mn-cs"/>
              </a:defRPr>
            </a:lvl1pPr>
          </a:lstStyle>
          <a:p>
            <a:pPr>
              <a:defRPr/>
            </a:pPr>
            <a:fld id="{1ECC246E-2BFD-4427-BCF9-4C7788D98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234950" y="1"/>
            <a:ext cx="68389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0025" y="6435726"/>
            <a:ext cx="8758238" cy="1588"/>
          </a:xfrm>
          <a:prstGeom prst="line">
            <a:avLst/>
          </a:prstGeom>
          <a:ln w="19050" cmpd="sng">
            <a:solidFill>
              <a:srgbClr val="FFBC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6" r:id="rId1"/>
    <p:sldLayoutId id="2147484377" r:id="rId2"/>
    <p:sldLayoutId id="2147484375" r:id="rId3"/>
    <p:sldLayoutId id="2147484378" r:id="rId4"/>
    <p:sldLayoutId id="2147484379" r:id="rId5"/>
    <p:sldLayoutId id="2147484380" r:id="rId6"/>
    <p:sldLayoutId id="2147484381" r:id="rId7"/>
    <p:sldLayoutId id="2147484382" r:id="rId8"/>
  </p:sldLayoutIdLst>
  <p:hf hdr="0" ftr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+mj-lt"/>
          <a:ea typeface="MS PGothic" pitchFamily="34" charset="-128"/>
          <a:cs typeface="ＭＳ Ｐゴシック" pitchFamily="-1" charset="-128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MS PGothic" pitchFamily="34" charset="-128"/>
          <a:cs typeface="ＭＳ Ｐゴシック" pitchFamily="-1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MS PGothic" pitchFamily="34" charset="-128"/>
          <a:cs typeface="ＭＳ Ｐゴシック" pitchFamily="-1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MS PGothic" pitchFamily="34" charset="-128"/>
          <a:cs typeface="ＭＳ Ｐゴシック" pitchFamily="-1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MS PGothic" pitchFamily="34" charset="-128"/>
          <a:cs typeface="ＭＳ Ｐゴシック" pitchFamily="-1" charset="-128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ＭＳ Ｐゴシック" pitchFamily="-1" charset="-128"/>
          <a:cs typeface="ＭＳ Ｐゴシック" pitchFamily="-1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ＭＳ Ｐゴシック" pitchFamily="-1" charset="-128"/>
          <a:cs typeface="ＭＳ Ｐゴシック" pitchFamily="-1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ＭＳ Ｐゴシック" pitchFamily="-1" charset="-128"/>
          <a:cs typeface="ＭＳ Ｐゴシック" pitchFamily="-1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Trebuchet MS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MS PGothic" pitchFamily="34" charset="-128"/>
          <a:cs typeface="ＭＳ Ｐゴシック" pitchFamily="-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E46C0A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xd.adobe.com/view/2d2983d9-3903-4f11-71cd-cf4d8ae0be0f-5b18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xd.adobe.com/view/1dc82153-ff58-4349-5ddf-40829618ba81-6bf9/" TargetMode="Externa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xd.adobe.com/view/ad26f47c-d9ac-4290-65ac-bf5f5d2cf24f-db17/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xd.adobe.com/view/ba275413-24c9-4283-7d7a-5d59c4aeb765-cc16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ctrTitle"/>
          </p:nvPr>
        </p:nvSpPr>
        <p:spPr>
          <a:xfrm>
            <a:off x="452440" y="2303463"/>
            <a:ext cx="8442325" cy="2006600"/>
          </a:xfrm>
        </p:spPr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eSignature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</a:br>
            <a:r>
              <a:rPr lang="en-US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Maybank M2U Apps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0243" name="Date Placeholder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94F37BCF-A7AA-43CC-AF76-EBDAA3C2AF6B}" type="datetime1">
              <a:rPr lang="en-AU" altLang="en-US" smtClean="0">
                <a:latin typeface="Trebuchet MS" pitchFamily="34" charset="0"/>
                <a:ea typeface="MS PGothic" pitchFamily="34" charset="-128"/>
              </a:rPr>
              <a:pPr>
                <a:defRPr/>
              </a:pPr>
              <a:t>14/5/20</a:t>
            </a:fld>
            <a:endParaRPr lang="en-US" altLang="en-US" dirty="0">
              <a:latin typeface="Trebuchet MS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595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1026" name="Picture 2" descr="Hasil gambar untuk banker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140252" y="1529759"/>
            <a:ext cx="1698947" cy="208689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235788" y="838097"/>
            <a:ext cx="1446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Relationship</a:t>
            </a:r>
          </a:p>
          <a:p>
            <a:pPr algn="ctr"/>
            <a:r>
              <a:rPr lang="en-US" dirty="0"/>
              <a:t>Manager</a:t>
            </a:r>
          </a:p>
        </p:txBody>
      </p:sp>
      <p:pic>
        <p:nvPicPr>
          <p:cNvPr id="1028" name="Picture 4" descr="Hasil gambar untuk stay at home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493828" y="1484428"/>
            <a:ext cx="2007659" cy="213222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3946475" y="960929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</a:p>
        </p:txBody>
      </p:sp>
      <p:pic>
        <p:nvPicPr>
          <p:cNvPr id="1030" name="Picture 6" descr="Hasil gambar untuk back office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291619" y="1484428"/>
            <a:ext cx="2115403" cy="2132229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666266" y="974577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8188" y="3924817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8384" y="3927089"/>
            <a:ext cx="1632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Wet Signature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2505" y="3927089"/>
            <a:ext cx="3033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Execute based on Hardcopy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075" y="5141761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Scanned Hardcopy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1414" y="5157681"/>
            <a:ext cx="1896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Digital Signature</a:t>
            </a:r>
          </a:p>
          <a:p>
            <a:pPr algn="ctr"/>
            <a:r>
              <a:rPr lang="en-US" dirty="0"/>
              <a:t>(M2U)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6141" y="5173601"/>
            <a:ext cx="2953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Execute based on Softcopy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992960" y="2361063"/>
            <a:ext cx="268857" cy="409433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5779424" y="2336039"/>
            <a:ext cx="268857" cy="409433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91318" y="4844955"/>
            <a:ext cx="8349492" cy="12555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1026" name="Picture 2" descr="Hasil gambar untuk banker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222140" y="1529759"/>
            <a:ext cx="1698947" cy="208689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317676" y="838097"/>
            <a:ext cx="1446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Relationship</a:t>
            </a:r>
          </a:p>
          <a:p>
            <a:pPr algn="ctr"/>
            <a:r>
              <a:rPr lang="en-US" dirty="0"/>
              <a:t>Manager</a:t>
            </a:r>
          </a:p>
        </p:txBody>
      </p:sp>
      <p:pic>
        <p:nvPicPr>
          <p:cNvPr id="1028" name="Picture 4" descr="Hasil gambar untuk stay at home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575716" y="1484428"/>
            <a:ext cx="2007659" cy="2132229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028363" y="960929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</a:p>
        </p:txBody>
      </p:sp>
      <p:pic>
        <p:nvPicPr>
          <p:cNvPr id="1030" name="Picture 6" descr="Hasil gambar untuk back office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6373507" y="1484428"/>
            <a:ext cx="2115403" cy="2132229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748154" y="974577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Office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74848" y="2361063"/>
            <a:ext cx="268857" cy="409433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5861312" y="2336039"/>
            <a:ext cx="268857" cy="409433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34948" y="3930550"/>
          <a:ext cx="8445028" cy="230177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7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4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9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062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SmartPhone</a:t>
                      </a:r>
                      <a:r>
                        <a:rPr lang="en-US" sz="1600" b="0" baseline="0" dirty="0"/>
                        <a:t> / Laptop</a:t>
                      </a:r>
                      <a:endParaRPr 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/>
                        <a:t>SmartPhone</a:t>
                      </a:r>
                      <a:endParaRPr 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Desktop</a:t>
                      </a:r>
                      <a:r>
                        <a:rPr lang="en-US" sz="1600" b="0" baseline="0" dirty="0"/>
                        <a:t> / Laptop</a:t>
                      </a:r>
                      <a:endParaRPr 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5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Mobile Responsive</a:t>
                      </a:r>
                      <a:r>
                        <a:rPr lang="en-US" sz="1600" baseline="0" dirty="0"/>
                        <a:t> Web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M2U ID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Desktop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57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User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Active Directory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M2U User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Active Directory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69242" y="1978925"/>
          <a:ext cx="6728346" cy="39009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26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Subscription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Redemption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Switching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8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Banca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Subscription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2368550" y="1173707"/>
            <a:ext cx="797731" cy="805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977719" y="1173707"/>
            <a:ext cx="797731" cy="805218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74298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ctrTitle"/>
          </p:nvPr>
        </p:nvSpPr>
        <p:spPr>
          <a:xfrm>
            <a:off x="452440" y="2303463"/>
            <a:ext cx="8442325" cy="20066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Relationship Manager User Interface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0243" name="Date Placeholder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94F37BCF-A7AA-43CC-AF76-EBDAA3C2AF6B}" type="datetime1">
              <a:rPr lang="en-AU" altLang="en-US" smtClean="0">
                <a:latin typeface="Trebuchet MS" pitchFamily="34" charset="0"/>
                <a:ea typeface="MS PGothic" pitchFamily="34" charset="-128"/>
              </a:rPr>
              <a:pPr>
                <a:defRPr/>
              </a:pPr>
              <a:t>14/5/20</a:t>
            </a:fld>
            <a:endParaRPr lang="en-US" altLang="en-US" dirty="0">
              <a:latin typeface="Trebuchet MS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595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923" y="955343"/>
            <a:ext cx="2811439" cy="487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3589362" y="1319946"/>
            <a:ext cx="5052847" cy="282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Login: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and Password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 is Active Directory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UserID</a:t>
            </a:r>
            <a:endParaRPr lang="en-US" sz="1600" dirty="0"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There will be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WhiteList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table to list which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s are allowed to Login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Auto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Logout Timeout = 10min without Activity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dirty="0"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MockUp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:</a:t>
            </a:r>
          </a:p>
          <a:p>
            <a:pPr lvl="0" eaLnBrk="0" hangingPunct="0"/>
            <a:r>
              <a:rPr lang="en-US" sz="1600" dirty="0">
                <a:hlinkClick r:id="rId3"/>
              </a:rPr>
              <a:t>https://xd.adobe.com/view/2d2983d9-3903-4f11-71cd-cf4d8ae0be0f-5b18/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Creation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988" y="1050877"/>
            <a:ext cx="2811439" cy="5088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3654425" y="1206899"/>
            <a:ext cx="5052847" cy="206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There will be two options: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Create New Proposal 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Check Status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Creation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 bwMode="auto">
          <a:xfrm>
            <a:off x="3654425" y="1206899"/>
            <a:ext cx="5052847" cy="369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Product Type: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Drop Down Menu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Pre-Defined from Field Product (1) at Slide4 (Form Table)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Aplication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Drop Down Menu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Pre-Defined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from Field Activity (2) at Slide 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Remarks: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Free Text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Alphanumeric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max 50Char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baseline="0" dirty="0">
                <a:latin typeface="Calibri" pitchFamily="34" charset="0"/>
                <a:cs typeface="ＭＳ Ｐゴシック" pitchFamily="-1" charset="-128"/>
              </a:rPr>
              <a:t>RM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to manually Key-In Product Name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953" y="988535"/>
            <a:ext cx="2879677" cy="48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4950" y="1"/>
            <a:ext cx="6838950" cy="738188"/>
          </a:xfrm>
        </p:spPr>
        <p:txBody>
          <a:bodyPr/>
          <a:lstStyle/>
          <a:p>
            <a:r>
              <a:rPr lang="en-US" dirty="0"/>
              <a:t>Proposal Creation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421" y="1064525"/>
            <a:ext cx="2797791" cy="480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46062" y="1064525"/>
            <a:ext cx="2866022" cy="4858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5862370" y="1483356"/>
            <a:ext cx="3040655" cy="3692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Document Name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Free Text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Alphanumeric (25 Char)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Document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Upload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Photo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File Upload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Creation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36" y="1078174"/>
            <a:ext cx="2879678" cy="4885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74954" y="1091822"/>
            <a:ext cx="2866029" cy="4844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itle 1"/>
          <p:cNvSpPr txBox="1">
            <a:spLocks/>
          </p:cNvSpPr>
          <p:nvPr/>
        </p:nvSpPr>
        <p:spPr bwMode="auto">
          <a:xfrm>
            <a:off x="5553572" y="1160062"/>
            <a:ext cx="3040655" cy="4285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Sample Case 1: Subscription form with 1 page only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RM press Photo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Then RM press “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Tidak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”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Photo will be converted to PDF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Sample Case 2: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TnC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document with 2 pages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RM Press Photo at Page1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Then RM Press “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Ya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”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RM Press Photo at Page2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Then RM Press “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Tidak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”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Two Photos will be converted to 2 Pages 1 File PDF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4950" y="1"/>
            <a:ext cx="6838950" cy="738188"/>
          </a:xfrm>
        </p:spPr>
        <p:txBody>
          <a:bodyPr/>
          <a:lstStyle/>
          <a:p>
            <a:r>
              <a:rPr lang="en-US" dirty="0"/>
              <a:t>Proposal Creation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9117" y="1105468"/>
            <a:ext cx="2906973" cy="4926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4291818" y="1009922"/>
            <a:ext cx="3040655" cy="37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Plus button (+) : to add Document required for certain activity.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i.e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for Investment Subscription need to upload Subscription form,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TnC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, Prospectus, Risk Profile, etc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In Each File Name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there will be button to delete file.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34950" y="1"/>
            <a:ext cx="6838950" cy="738188"/>
          </a:xfrm>
        </p:spPr>
        <p:txBody>
          <a:bodyPr/>
          <a:lstStyle/>
          <a:p>
            <a:r>
              <a:rPr lang="en-US" dirty="0"/>
              <a:t>Proposal Creation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254" y="1050877"/>
            <a:ext cx="2825087" cy="4844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2341" y="1064526"/>
            <a:ext cx="2825087" cy="483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5937428" y="682370"/>
            <a:ext cx="3040655" cy="37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RM Search Customer by entering CIF number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 Tools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135" y="1064524"/>
            <a:ext cx="2893325" cy="489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0924" y="1078171"/>
            <a:ext cx="2906973" cy="4858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5957897" y="1064524"/>
            <a:ext cx="3040655" cy="37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There will be Confirmation Page before push document to Customer M2U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There will be Successful Notification screen.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noProof="0" dirty="0">
                <a:latin typeface="Calibri" pitchFamily="34" charset="0"/>
                <a:cs typeface="ＭＳ Ｐゴシック" pitchFamily="-1" charset="-128"/>
              </a:rPr>
              <a:t>Possible Error: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Customer</a:t>
            </a:r>
            <a:r>
              <a:rPr kumimoji="0" lang="en-US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does not have M2U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ctrTitle"/>
          </p:nvPr>
        </p:nvSpPr>
        <p:spPr>
          <a:xfrm>
            <a:off x="452440" y="2303463"/>
            <a:ext cx="8442325" cy="20066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Customer Approval: M2U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0243" name="Date Placeholder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94F37BCF-A7AA-43CC-AF76-EBDAA3C2AF6B}" type="datetime1">
              <a:rPr lang="en-AU" altLang="en-US" smtClean="0">
                <a:latin typeface="Trebuchet MS" pitchFamily="34" charset="0"/>
                <a:ea typeface="MS PGothic" pitchFamily="34" charset="-128"/>
              </a:rPr>
              <a:pPr>
                <a:defRPr/>
              </a:pPr>
              <a:t>14/5/20</a:t>
            </a:fld>
            <a:endParaRPr lang="en-US" altLang="en-US" dirty="0">
              <a:latin typeface="Trebuchet MS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5959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Approval: M2U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950" y="1528558"/>
            <a:ext cx="2920621" cy="4913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55571" y="1583150"/>
            <a:ext cx="2893325" cy="4844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5725" y="1569501"/>
            <a:ext cx="2893325" cy="487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itle 1"/>
          <p:cNvSpPr txBox="1">
            <a:spLocks/>
          </p:cNvSpPr>
          <p:nvPr/>
        </p:nvSpPr>
        <p:spPr bwMode="auto">
          <a:xfrm>
            <a:off x="234950" y="764279"/>
            <a:ext cx="8674100" cy="87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R="0" lvl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Sample Case1: Customer get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Push Notification for </a:t>
            </a:r>
            <a:r>
              <a:rPr kumimoji="0" lang="en-US" sz="1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eSignature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. Customer clicks the notification then 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password page will be prompted. Customer is now on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eSignature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confirmation page</a:t>
            </a:r>
          </a:p>
          <a:p>
            <a:pPr eaLnBrk="0" hangingPunct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Mock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Up: </a:t>
            </a:r>
            <a:r>
              <a:rPr lang="en-US" sz="1600" u="sng" dirty="0">
                <a:hlinkClick r:id="rId5"/>
              </a:rPr>
              <a:t>https://xd.adobe.com/view/1dc82153-ff58-4349-5ddf-40829618ba81-6bf9/</a:t>
            </a:r>
            <a:endParaRPr lang="en-US" sz="1600" dirty="0"/>
          </a:p>
          <a:p>
            <a:pPr marR="0" lvl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Approval: M2U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176" y="1965277"/>
            <a:ext cx="2286000" cy="3978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99640" y="1965277"/>
            <a:ext cx="2286000" cy="3882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58344" y="1965277"/>
            <a:ext cx="2286000" cy="398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75450" y="1973893"/>
            <a:ext cx="2286000" cy="384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 bwMode="auto">
          <a:xfrm>
            <a:off x="234950" y="724541"/>
            <a:ext cx="8674100" cy="12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hangingPunct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Sample Case2: Customer manually login to M2U (password / biometric). Customer go to burger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menu and choose Inbox. Customer clicks on the </a:t>
            </a:r>
            <a:r>
              <a:rPr kumimoji="0" lang="en-US" sz="1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eSignature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Message. 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Customer is now on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eSignature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confirmation page</a:t>
            </a:r>
          </a:p>
          <a:p>
            <a:pPr eaLnBrk="0" hangingPunct="0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Mock Up: </a:t>
            </a:r>
            <a:r>
              <a:rPr lang="en-US" sz="1600" u="sng" dirty="0">
                <a:hlinkClick r:id="rId6"/>
              </a:rPr>
              <a:t>https://xd.adobe.com/view/ad26f47c-d9ac-4290-65ac-bf5f5d2cf24f-db17/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Approval: M2U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415" y="1146419"/>
            <a:ext cx="2893325" cy="487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 l="25538" t="19682" r="53532" b="10645"/>
          <a:stretch>
            <a:fillRect/>
          </a:stretch>
        </p:blipFill>
        <p:spPr bwMode="auto">
          <a:xfrm>
            <a:off x="3008852" y="1187352"/>
            <a:ext cx="2723202" cy="4831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5732054" y="1064524"/>
            <a:ext cx="3040655" cy="3725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Customer may Click on each file and can read each document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Customer must tick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on the consent statement before submitting the </a:t>
            </a:r>
            <a:r>
              <a:rPr kumimoji="0" lang="en-US" sz="16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eSignature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Approval: M2U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 l="25174" t="19485" r="53218" b="10645"/>
          <a:stretch>
            <a:fillRect/>
          </a:stretch>
        </p:blipFill>
        <p:spPr bwMode="auto">
          <a:xfrm>
            <a:off x="234950" y="1323837"/>
            <a:ext cx="2811438" cy="4844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 l="24721" t="19641" r="53356" b="10489"/>
          <a:stretch>
            <a:fillRect/>
          </a:stretch>
        </p:blipFill>
        <p:spPr bwMode="auto">
          <a:xfrm>
            <a:off x="3046388" y="1323837"/>
            <a:ext cx="2852382" cy="4844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5950422" y="1050876"/>
            <a:ext cx="3040655" cy="278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To fulfill 2FA requirement, Customer need to enter SMS TAC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Customer will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get successful email notification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noProof="0" dirty="0" err="1">
                <a:latin typeface="Calibri" pitchFamily="34" charset="0"/>
                <a:cs typeface="ＭＳ Ｐゴシック" pitchFamily="-1" charset="-128"/>
              </a:rPr>
              <a:t>ApprovalID</a:t>
            </a:r>
            <a:r>
              <a:rPr lang="en-US" sz="1600" noProof="0" dirty="0">
                <a:latin typeface="Calibri" pitchFamily="34" charset="0"/>
                <a:cs typeface="ＭＳ Ｐゴシック" pitchFamily="-1" charset="-128"/>
              </a:rPr>
              <a:t> is unique per </a:t>
            </a:r>
            <a:r>
              <a:rPr lang="en-US" sz="1600" noProof="0" dirty="0" err="1">
                <a:latin typeface="Calibri" pitchFamily="34" charset="0"/>
                <a:cs typeface="ＭＳ Ｐゴシック" pitchFamily="-1" charset="-128"/>
              </a:rPr>
              <a:t>ApplicationID</a:t>
            </a:r>
            <a:r>
              <a:rPr lang="en-US" sz="1600" noProof="0" dirty="0">
                <a:latin typeface="Calibri" pitchFamily="34" charset="0"/>
                <a:cs typeface="ＭＳ Ｐゴシック" pitchFamily="-1" charset="-128"/>
              </a:rPr>
              <a:t> and have certain formula to calculate.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Approval: M2U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 l="24964" t="19485" r="53428" b="10251"/>
          <a:stretch>
            <a:fillRect/>
          </a:stretch>
        </p:blipFill>
        <p:spPr bwMode="auto">
          <a:xfrm>
            <a:off x="559558" y="1119116"/>
            <a:ext cx="2811439" cy="487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3734795" y="1119116"/>
            <a:ext cx="5174255" cy="2784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Successful email notification will be sent to Customer.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There will be attachment consist of 1 zip file.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Zip filename: [Product][Activity][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ApplicationID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].zip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i.e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: InvestmentSubscription123456789.zip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Zip file will consist: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All attachment files.</a:t>
            </a:r>
          </a:p>
          <a:p>
            <a:pPr marL="744538" lvl="1" indent="-287338" eaLnBrk="0" hangingPunct="0">
              <a:buFont typeface="Arial" pitchFamily="34" charset="0"/>
              <a:buChar char="•"/>
            </a:pP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Certificate Approval file (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pdf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, printable)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ctrTitle"/>
          </p:nvPr>
        </p:nvSpPr>
        <p:spPr>
          <a:xfrm>
            <a:off x="452440" y="2303463"/>
            <a:ext cx="8442325" cy="20066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itchFamily="34" charset="0"/>
              </a:rPr>
              <a:t>BackOffice User Interface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10243" name="Date Placeholder 2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94F37BCF-A7AA-43CC-AF76-EBDAA3C2AF6B}" type="datetime1">
              <a:rPr lang="en-AU" altLang="en-US" smtClean="0">
                <a:latin typeface="Trebuchet MS" pitchFamily="34" charset="0"/>
                <a:ea typeface="MS PGothic" pitchFamily="34" charset="-128"/>
              </a:rPr>
              <a:pPr>
                <a:defRPr/>
              </a:pPr>
              <a:t>14/5/20</a:t>
            </a:fld>
            <a:endParaRPr lang="en-US" altLang="en-US" dirty="0">
              <a:latin typeface="Trebuchet MS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5959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User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 l="15839" t="25586" r="38323" b="13006"/>
          <a:stretch>
            <a:fillRect/>
          </a:stretch>
        </p:blipFill>
        <p:spPr bwMode="auto">
          <a:xfrm>
            <a:off x="0" y="900748"/>
            <a:ext cx="5964072" cy="425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1"/>
          <p:cNvSpPr txBox="1">
            <a:spLocks/>
          </p:cNvSpPr>
          <p:nvPr/>
        </p:nvSpPr>
        <p:spPr bwMode="auto">
          <a:xfrm>
            <a:off x="4800838" y="1869743"/>
            <a:ext cx="3810900" cy="282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Login: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and Password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  is Active Directory </a:t>
            </a:r>
            <a:r>
              <a:rPr lang="en-US" sz="1600" dirty="0" err="1">
                <a:latin typeface="Calibri" pitchFamily="34" charset="0"/>
                <a:cs typeface="ＭＳ Ｐゴシック" pitchFamily="-1" charset="-128"/>
              </a:rPr>
              <a:t>UserID</a:t>
            </a:r>
            <a:endParaRPr lang="en-US" sz="1600" dirty="0"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There will be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WhiteList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table to list which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UserID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s are allowed to Login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Auto</a:t>
            </a:r>
            <a:r>
              <a:rPr lang="en-US" sz="1600" dirty="0">
                <a:latin typeface="Calibri" pitchFamily="34" charset="0"/>
                <a:cs typeface="ＭＳ Ｐゴシック" pitchFamily="-1" charset="-128"/>
              </a:rPr>
              <a:t>Logout Timeout = 10min without Activity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dirty="0">
              <a:latin typeface="Calibri" pitchFamily="34" charset="0"/>
              <a:cs typeface="ＭＳ Ｐゴシック" pitchFamily="-1" charset="-128"/>
            </a:endParaRP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MockUp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:</a:t>
            </a:r>
          </a:p>
          <a:p>
            <a:pPr eaLnBrk="0" hangingPunct="0"/>
            <a:r>
              <a:rPr lang="en-US" sz="1600" u="sng" dirty="0">
                <a:hlinkClick r:id="rId3"/>
              </a:rPr>
              <a:t>https://xd.adobe.com/view/ba275413-24c9-4283-7d7a-5d59c4aeb765-cc16/</a:t>
            </a:r>
            <a:endParaRPr lang="en-US" sz="1600" dirty="0"/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User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t="20075" r="28358" b="10645"/>
          <a:stretch>
            <a:fillRect/>
          </a:stretch>
        </p:blipFill>
        <p:spPr bwMode="auto">
          <a:xfrm>
            <a:off x="330486" y="1692323"/>
            <a:ext cx="8526980" cy="439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234949" y="738190"/>
            <a:ext cx="8158424" cy="154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First Dashboard is User Dashboard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(field will be defined later based on priority)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baseline="0" dirty="0">
                <a:latin typeface="Calibri" pitchFamily="34" charset="0"/>
                <a:cs typeface="ＭＳ Ｐゴシック" pitchFamily="-1" charset="-128"/>
              </a:rPr>
              <a:t>There will be specific menu for Digital Signature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</a:t>
            </a:r>
            <a:endParaRPr lang="en-US" sz="1600" dirty="0"/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User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 t="19485" r="29722" b="12416"/>
          <a:stretch>
            <a:fillRect/>
          </a:stretch>
        </p:blipFill>
        <p:spPr bwMode="auto">
          <a:xfrm>
            <a:off x="832513" y="2306473"/>
            <a:ext cx="7523170" cy="388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234949" y="738190"/>
            <a:ext cx="8158424" cy="154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Digital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Signature Menu will be defined into category as per “Form Table” slide 4.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</a:rPr>
              <a:t>BackOffice </a:t>
            </a:r>
            <a:r>
              <a:rPr lang="en-US" sz="1600" dirty="0" err="1">
                <a:latin typeface="Calibri" pitchFamily="34" charset="0"/>
              </a:rPr>
              <a:t>UserID</a:t>
            </a:r>
            <a:r>
              <a:rPr lang="en-US" sz="1600" dirty="0">
                <a:latin typeface="Calibri" pitchFamily="34" charset="0"/>
              </a:rPr>
              <a:t> must be granted permission to access each menu.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</a:rPr>
              <a:t>BackOffice </a:t>
            </a:r>
            <a:r>
              <a:rPr lang="en-US" sz="1600" dirty="0" err="1">
                <a:latin typeface="Calibri" pitchFamily="34" charset="0"/>
              </a:rPr>
              <a:t>UserID</a:t>
            </a:r>
            <a:r>
              <a:rPr lang="en-US" sz="1600" dirty="0">
                <a:latin typeface="Calibri" pitchFamily="34" charset="0"/>
              </a:rPr>
              <a:t> must be granted permission to see only specific RM </a:t>
            </a:r>
            <a:r>
              <a:rPr lang="en-US" sz="1600" dirty="0" err="1">
                <a:latin typeface="Calibri" pitchFamily="34" charset="0"/>
              </a:rPr>
              <a:t>UserID</a:t>
            </a:r>
            <a:r>
              <a:rPr lang="en-US" sz="1600" dirty="0">
                <a:latin typeface="Calibri" pitchFamily="34" charset="0"/>
              </a:rPr>
              <a:t>.</a:t>
            </a:r>
            <a:endParaRPr lang="en-US" sz="1600" dirty="0"/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User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 t="19288" r="27939" b="7532"/>
          <a:stretch>
            <a:fillRect/>
          </a:stretch>
        </p:blipFill>
        <p:spPr bwMode="auto">
          <a:xfrm>
            <a:off x="240284" y="1665027"/>
            <a:ext cx="8518638" cy="461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240284" y="574413"/>
            <a:ext cx="8158424" cy="154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BackOffice User can generate report by excel.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Excel is generated based on result on the screen.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</a:rPr>
              <a:t>BackOffice user can click “Detail” to change status.</a:t>
            </a:r>
            <a:endParaRPr lang="en-US" sz="1600" dirty="0"/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BackOffice User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D60A5-9FF3-4E5E-954A-C349833C407C}" type="datetime1">
              <a:rPr lang="en-AU" smtClean="0"/>
              <a:pPr>
                <a:defRPr/>
              </a:pPr>
              <a:t>14/5/20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FB40D-69FB-4A16-B0A8-50E694A82C6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 l="3218" t="20034" r="33065" b="12260"/>
          <a:stretch>
            <a:fillRect/>
          </a:stretch>
        </p:blipFill>
        <p:spPr bwMode="auto">
          <a:xfrm>
            <a:off x="234950" y="1717084"/>
            <a:ext cx="8290351" cy="469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40284" y="574413"/>
            <a:ext cx="8158424" cy="154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BackOffice User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cs typeface="ＭＳ Ｐゴシック" pitchFamily="-1" charset="-128"/>
              </a:rPr>
              <a:t> can review each document by clicking “document name”.</a:t>
            </a:r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1600" dirty="0">
                <a:latin typeface="Calibri" pitchFamily="34" charset="0"/>
              </a:rPr>
              <a:t>BackOffice user can change status “In Progress, Complete, Reject” and give Remarks.</a:t>
            </a:r>
            <a:endParaRPr lang="en-US" sz="1600" dirty="0"/>
          </a:p>
          <a:p>
            <a:pPr marL="287338" marR="0" lvl="0" indent="-287338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ＭＳ Ｐゴシック" pitchFamily="-1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141420</TotalTime>
  <Words>811</Words>
  <Application>Microsoft Macintosh PowerPoint</Application>
  <PresentationFormat>On-screen Show (4:3)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Trebuchet MS</vt:lpstr>
      <vt:lpstr>Office Theme</vt:lpstr>
      <vt:lpstr>eSignature Maybank M2U Apps</vt:lpstr>
      <vt:lpstr>The Idea</vt:lpstr>
      <vt:lpstr>Infrastructure</vt:lpstr>
      <vt:lpstr>Form Table</vt:lpstr>
      <vt:lpstr>Relationship Manager User Interface</vt:lpstr>
      <vt:lpstr>Login</vt:lpstr>
      <vt:lpstr>Proposal Creation</vt:lpstr>
      <vt:lpstr>Proposal Creation</vt:lpstr>
      <vt:lpstr>Proposal Creation</vt:lpstr>
      <vt:lpstr>Proposal Creation</vt:lpstr>
      <vt:lpstr>Proposal Creation</vt:lpstr>
      <vt:lpstr>Proposal Creation</vt:lpstr>
      <vt:lpstr>RM Tools</vt:lpstr>
      <vt:lpstr>Customer Approval: M2U</vt:lpstr>
      <vt:lpstr>Customer Approval: M2U</vt:lpstr>
      <vt:lpstr>Customer Approval: M2U</vt:lpstr>
      <vt:lpstr>Customer Approval: M2U</vt:lpstr>
      <vt:lpstr>Customer Approval: M2U</vt:lpstr>
      <vt:lpstr>Customer Approval: M2U</vt:lpstr>
      <vt:lpstr>BackOffice User Interface</vt:lpstr>
      <vt:lpstr>BackOffice User Interface</vt:lpstr>
      <vt:lpstr>BackOffice User Interface</vt:lpstr>
      <vt:lpstr>BackOffice User Interface</vt:lpstr>
      <vt:lpstr>BackOffice User Interface</vt:lpstr>
      <vt:lpstr>BackOffice User Interface</vt:lpstr>
    </vt:vector>
  </TitlesOfParts>
  <Company>The Bonsey Design Partnership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Maybank</dc:creator>
  <dc:description>For busy slides</dc:description>
  <cp:lastModifiedBy>SHIELLA MULYADI</cp:lastModifiedBy>
  <cp:revision>1578</cp:revision>
  <dcterms:created xsi:type="dcterms:W3CDTF">2012-01-06T02:19:26Z</dcterms:created>
  <dcterms:modified xsi:type="dcterms:W3CDTF">2020-05-14T11:44:05Z</dcterms:modified>
</cp:coreProperties>
</file>